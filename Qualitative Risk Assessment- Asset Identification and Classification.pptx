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80" r:id="rId1"/>
  </p:sldMasterIdLst>
  <p:notesMasterIdLst>
    <p:notesMasterId r:id="rId18"/>
  </p:notesMasterIdLst>
  <p:sldIdLst>
    <p:sldId id="256" r:id="rId2"/>
    <p:sldId id="545" r:id="rId3"/>
    <p:sldId id="494" r:id="rId4"/>
    <p:sldId id="290" r:id="rId5"/>
    <p:sldId id="452" r:id="rId6"/>
    <p:sldId id="538" r:id="rId7"/>
    <p:sldId id="454" r:id="rId8"/>
    <p:sldId id="522" r:id="rId9"/>
    <p:sldId id="455" r:id="rId10"/>
    <p:sldId id="546" r:id="rId11"/>
    <p:sldId id="540" r:id="rId12"/>
    <p:sldId id="543" r:id="rId13"/>
    <p:sldId id="542" r:id="rId14"/>
    <p:sldId id="537" r:id="rId15"/>
    <p:sldId id="544" r:id="rId16"/>
    <p:sldId id="539" r:id="rId17"/>
  </p:sldIdLst>
  <p:sldSz cx="9144000" cy="6858000" type="screen4x3"/>
  <p:notesSz cx="7010400" cy="92360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449" autoAdjust="0"/>
    <p:restoredTop sz="94660"/>
  </p:normalViewPr>
  <p:slideViewPr>
    <p:cSldViewPr>
      <p:cViewPr varScale="1">
        <p:scale>
          <a:sx n="81" d="100"/>
          <a:sy n="81" d="100"/>
        </p:scale>
        <p:origin x="917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F379C2-BF52-4D6F-9699-3A81F12AB6EB}" type="datetimeFigureOut">
              <a:rPr lang="en-US" smtClean="0"/>
              <a:t>2/28/2023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37840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669"/>
            <a:ext cx="3037840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177100-DB5B-4DC4-BC4C-4335FF7C268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904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177100-DB5B-4DC4-BC4C-4335FF7C268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183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2620B-9032-495F-A89A-9BFA7580947F}" type="datetime1">
              <a:rPr lang="en-US" smtClean="0"/>
              <a:t>2/28/2023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ISYS 635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8106F78-3DF7-480A-9BC9-7B17255677D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8F09B-B9FB-40D8-8D5B-CC6B02392232}" type="datetime1">
              <a:rPr lang="en-US" smtClean="0"/>
              <a:t>2/28/2023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ISYS 635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91149-7423-4847-B71D-0A0EF5E3A0B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487ED-CBF6-4207-BDC6-6F649B1B38C8}" type="datetime1">
              <a:rPr lang="en-US" smtClean="0"/>
              <a:t>2/28/2023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5CB181F-5F16-4663-9942-67B0BD9CC1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ISYS 635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DEFB-DEE8-4A16-B364-236F2FCA621B}" type="datetime1">
              <a:rPr lang="en-US" smtClean="0"/>
              <a:t>2/28/2023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ISYS 635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1C457-EC98-4CB1-B61C-9591812E65C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80F9B-3F13-41FF-A981-7CC4C903888A}" type="datetime1">
              <a:rPr lang="en-US" smtClean="0"/>
              <a:t>2/28/2023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ISYS 635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F937A-B5D3-4B0C-9D93-E3D7516D288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DEFC0-F0C5-4A79-8BF9-09A2D03507C3}" type="datetime1">
              <a:rPr lang="en-US" smtClean="0"/>
              <a:t>2/28/2023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ISYS 635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90EE-6467-46E8-93E2-04B6803E9B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F52DB-1601-427A-8FBF-47D1D641B7A4}" type="datetime1">
              <a:rPr lang="en-US" smtClean="0"/>
              <a:t>2/28/2023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ISYS 635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BD136-F42E-430F-98F4-7CA4EEDEF78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8DF92-2188-498A-A773-6018D310AF65}" type="datetime1">
              <a:rPr lang="en-US" smtClean="0"/>
              <a:t>2/28/2023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ISYS 635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45407-B17C-47A8-B2E0-2B701F1A018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250CC-3669-4D93-8A85-CE2E696C40CC}" type="datetime1">
              <a:rPr lang="en-US" smtClean="0"/>
              <a:t>2/28/2023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ISYS 635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8AA22B0-BE3A-4945-A09A-86E34DE4D5C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07A7C-569B-4865-B5C2-E818D60D9219}" type="datetime1">
              <a:rPr lang="en-US" smtClean="0"/>
              <a:t>2/28/2023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ISYS 635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5A2C1-CDCB-44AC-8BB8-68C3236A3E7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845D8-3E2B-4ABB-BA2F-AB4B6316BF62}" type="datetime1">
              <a:rPr lang="en-US" smtClean="0"/>
              <a:t>2/28/2023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ISYS 635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6FCAE-19F5-43EC-BB7F-BC99F0AD6CC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3DB582A2-AD22-4099-826B-6B54500DAC4C}" type="datetime1">
              <a:rPr lang="en-US" smtClean="0"/>
              <a:t>2/28/2023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ISYS 635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7C130538-EF82-4927-8B37-A370FB3BC9C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marL="342900" indent="-342900" algn="ctr">
              <a:lnSpc>
                <a:spcPct val="90000"/>
              </a:lnSpc>
            </a:pPr>
            <a:r>
              <a:rPr lang="en-US" sz="4000" dirty="0"/>
              <a:t>Cybersecurity Risk Assessment-</a:t>
            </a:r>
            <a:br>
              <a:rPr lang="en-US" sz="4000" dirty="0"/>
            </a:br>
            <a:r>
              <a:rPr lang="en-US" sz="4000" dirty="0"/>
              <a:t>qualitative approach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ISTM 635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153400" cy="685800"/>
          </a:xfrm>
        </p:spPr>
        <p:txBody>
          <a:bodyPr/>
          <a:lstStyle/>
          <a:p>
            <a:r>
              <a:rPr lang="en-US" dirty="0"/>
              <a:t>Security Terms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838200"/>
            <a:ext cx="8382000" cy="5791200"/>
          </a:xfrm>
        </p:spPr>
        <p:txBody>
          <a:bodyPr>
            <a:noAutofit/>
          </a:bodyPr>
          <a:lstStyle/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sz="1800" dirty="0"/>
              <a:t>Vulnerability</a:t>
            </a:r>
            <a:r>
              <a:rPr lang="en-US" sz="1800" b="0" dirty="0"/>
              <a:t>- A software hardware or procedural weakness that may provide an attacker the opportunity to obtain unauthorized access., e.g.</a:t>
            </a:r>
          </a:p>
          <a:p>
            <a:pPr lvl="1">
              <a:spcBef>
                <a:spcPts val="0"/>
              </a:spcBef>
            </a:pPr>
            <a:r>
              <a:rPr lang="en-US" sz="1600" dirty="0"/>
              <a:t>Could be an un-patched application</a:t>
            </a:r>
          </a:p>
          <a:p>
            <a:pPr lvl="1">
              <a:spcBef>
                <a:spcPts val="0"/>
              </a:spcBef>
            </a:pPr>
            <a:r>
              <a:rPr lang="en-US" sz="1600" dirty="0"/>
              <a:t>Lax physical security</a:t>
            </a:r>
          </a:p>
          <a:p>
            <a:pPr lvl="1">
              <a:spcBef>
                <a:spcPts val="0"/>
              </a:spcBef>
            </a:pPr>
            <a:r>
              <a:rPr lang="en-US" sz="1600" dirty="0"/>
              <a:t>Weak protocols  (e.g., installing new software)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sz="1800" dirty="0"/>
              <a:t>Threat</a:t>
            </a:r>
            <a:r>
              <a:rPr lang="en-US" sz="1800" b="0" dirty="0"/>
              <a:t>- A natural or man-made event that could have some type of negative impact on the organization. </a:t>
            </a:r>
          </a:p>
          <a:p>
            <a:pPr marL="800100" lvl="1" indent="-342900">
              <a:spcBef>
                <a:spcPts val="0"/>
              </a:spcBef>
            </a:pPr>
            <a:r>
              <a:rPr lang="en-US" sz="1600" b="0" dirty="0"/>
              <a:t>A threat usually requires a vulnerability</a:t>
            </a:r>
          </a:p>
          <a:p>
            <a:pPr marL="800100" lvl="1" indent="-342900">
              <a:spcBef>
                <a:spcPts val="0"/>
              </a:spcBef>
            </a:pPr>
            <a:r>
              <a:rPr lang="en-US" sz="1600" b="0" dirty="0"/>
              <a:t>A threat might also be natural such as a hurricane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sz="1800" dirty="0"/>
              <a:t>Threat Agent</a:t>
            </a:r>
            <a:r>
              <a:rPr lang="en-US" sz="1800" b="0" dirty="0"/>
              <a:t>- An actual person that takes advantage of a vulnerability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sz="1800" dirty="0"/>
              <a:t>Risk</a:t>
            </a:r>
            <a:r>
              <a:rPr lang="en-US" sz="1800" b="0" dirty="0"/>
              <a:t>- The likelihood of a threat agent taking advantage of a vulnerability and the corresponding business impact</a:t>
            </a:r>
          </a:p>
          <a:p>
            <a:pPr marL="800100" lvl="1" indent="-342900">
              <a:spcBef>
                <a:spcPts val="0"/>
              </a:spcBef>
            </a:pPr>
            <a:r>
              <a:rPr lang="en-US" sz="1600" b="0" dirty="0"/>
              <a:t>Risk ties the vulnerability, threat and likelihood of exploitation together.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sz="1800" dirty="0"/>
              <a:t>Exposure</a:t>
            </a:r>
            <a:r>
              <a:rPr lang="en-US" sz="1800" b="0" dirty="0"/>
              <a:t>- An instance of being exposed to losses from a threat agent. </a:t>
            </a:r>
          </a:p>
          <a:p>
            <a:pPr marL="800100" lvl="1" indent="-342900">
              <a:spcBef>
                <a:spcPts val="0"/>
              </a:spcBef>
            </a:pPr>
            <a:r>
              <a:rPr lang="en-US" sz="1800" b="0" dirty="0"/>
              <a:t>Example: A public web server that has a known vulnerability that is not patched, is an exposure.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sz="1800" dirty="0"/>
              <a:t>Countermeasure or Safeguard</a:t>
            </a:r>
            <a:r>
              <a:rPr lang="en-US" sz="1800" b="0" dirty="0"/>
              <a:t>- Some control or countermeasure put into place to mitigate the potential risk. </a:t>
            </a:r>
          </a:p>
          <a:p>
            <a:pPr marL="800100" lvl="1" indent="-342900">
              <a:spcBef>
                <a:spcPts val="0"/>
              </a:spcBef>
            </a:pPr>
            <a:r>
              <a:rPr lang="en-US" sz="1600" b="0" dirty="0"/>
              <a:t>A countermeasure reduces the possibility that a threat agent will be able to exploit a vulnerability. (You can NEVER 100% safeguard something)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</a:pPr>
            <a:endParaRPr lang="en-US" sz="1800" b="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995E3-307F-4856-A7FE-D26DEC2247BA}" type="datetime1">
              <a:rPr lang="en-US" smtClean="0"/>
              <a:t>2/28/2023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ISTM 635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91149-7423-4847-B71D-0A0EF5E3A0BC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732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36641" y="521732"/>
            <a:ext cx="175259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/>
              <a:t>Threat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17841" y="1207532"/>
            <a:ext cx="1143000" cy="40011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/>
              <a:t>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46541" y="1893332"/>
            <a:ext cx="171450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/>
              <a:t>Vulnerability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98327" y="2570894"/>
            <a:ext cx="1015314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75241" y="3417332"/>
            <a:ext cx="914400" cy="40011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/>
              <a:t>Asset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16478" y="4026932"/>
            <a:ext cx="1377763" cy="4001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/>
              <a:t>Exposure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1841" y="4769822"/>
            <a:ext cx="2209800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/>
              <a:t>Countermeasure/ Safeguard</a:t>
            </a:r>
          </a:p>
        </p:txBody>
      </p:sp>
      <p:cxnSp>
        <p:nvCxnSpPr>
          <p:cNvPr id="10" name="Elbow Connector 9"/>
          <p:cNvCxnSpPr>
            <a:stCxn id="2" idx="3"/>
            <a:endCxn id="3" idx="0"/>
          </p:cNvCxnSpPr>
          <p:nvPr/>
        </p:nvCxnSpPr>
        <p:spPr>
          <a:xfrm>
            <a:off x="3189240" y="721787"/>
            <a:ext cx="800101" cy="48574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" idx="3"/>
            <a:endCxn id="4" idx="0"/>
          </p:cNvCxnSpPr>
          <p:nvPr/>
        </p:nvCxnSpPr>
        <p:spPr>
          <a:xfrm>
            <a:off x="4560841" y="1407587"/>
            <a:ext cx="742950" cy="48574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/>
          <p:cNvCxnSpPr>
            <a:stCxn id="4" idx="3"/>
            <a:endCxn id="5" idx="0"/>
          </p:cNvCxnSpPr>
          <p:nvPr/>
        </p:nvCxnSpPr>
        <p:spPr>
          <a:xfrm>
            <a:off x="6161041" y="2093387"/>
            <a:ext cx="1244943" cy="477507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stCxn id="5" idx="2"/>
            <a:endCxn id="6" idx="3"/>
          </p:cNvCxnSpPr>
          <p:nvPr/>
        </p:nvCxnSpPr>
        <p:spPr>
          <a:xfrm rot="5400000">
            <a:off x="6605399" y="2816802"/>
            <a:ext cx="584828" cy="1016343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/>
          <p:cNvCxnSpPr>
            <a:stCxn id="6" idx="2"/>
            <a:endCxn id="7" idx="3"/>
          </p:cNvCxnSpPr>
          <p:nvPr/>
        </p:nvCxnSpPr>
        <p:spPr>
          <a:xfrm rot="5400000">
            <a:off x="5308569" y="3603114"/>
            <a:ext cx="409545" cy="83820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/>
          <p:cNvCxnSpPr>
            <a:stCxn id="7" idx="2"/>
            <a:endCxn id="8" idx="3"/>
          </p:cNvCxnSpPr>
          <p:nvPr/>
        </p:nvCxnSpPr>
        <p:spPr>
          <a:xfrm rot="5400000">
            <a:off x="3525140" y="4243544"/>
            <a:ext cx="696723" cy="1063719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8" idx="0"/>
            <a:endCxn id="2" idx="2"/>
          </p:cNvCxnSpPr>
          <p:nvPr/>
        </p:nvCxnSpPr>
        <p:spPr>
          <a:xfrm flipV="1">
            <a:off x="2236741" y="921842"/>
            <a:ext cx="76200" cy="384798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8" idx="0"/>
            <a:endCxn id="3" idx="2"/>
          </p:cNvCxnSpPr>
          <p:nvPr/>
        </p:nvCxnSpPr>
        <p:spPr>
          <a:xfrm flipV="1">
            <a:off x="2236741" y="1607642"/>
            <a:ext cx="1752600" cy="316218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8" idx="0"/>
            <a:endCxn id="4" idx="2"/>
          </p:cNvCxnSpPr>
          <p:nvPr/>
        </p:nvCxnSpPr>
        <p:spPr>
          <a:xfrm flipV="1">
            <a:off x="2236741" y="2293442"/>
            <a:ext cx="3067050" cy="2476380"/>
          </a:xfrm>
          <a:prstGeom prst="straightConnector1">
            <a:avLst/>
          </a:prstGeom>
          <a:ln w="12700"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 rot="16200000">
            <a:off x="1316497" y="2501910"/>
            <a:ext cx="16764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Indirectly Affects</a:t>
            </a:r>
          </a:p>
        </p:txBody>
      </p:sp>
      <p:sp>
        <p:nvSpPr>
          <p:cNvPr id="37" name="TextBox 36"/>
          <p:cNvSpPr txBox="1"/>
          <p:nvPr/>
        </p:nvSpPr>
        <p:spPr>
          <a:xfrm rot="17911658">
            <a:off x="2271749" y="2687132"/>
            <a:ext cx="16764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Indirectly Affects</a:t>
            </a:r>
          </a:p>
        </p:txBody>
      </p:sp>
      <p:sp>
        <p:nvSpPr>
          <p:cNvPr id="38" name="TextBox 37"/>
          <p:cNvSpPr txBox="1"/>
          <p:nvPr/>
        </p:nvSpPr>
        <p:spPr>
          <a:xfrm rot="19349547">
            <a:off x="3103401" y="2891350"/>
            <a:ext cx="21098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Reduces / Eliminates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89241" y="381000"/>
            <a:ext cx="1140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Give rise to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89441" y="1022866"/>
            <a:ext cx="9012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Exploits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94441" y="1740932"/>
            <a:ext cx="9717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Leads to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18241" y="3569732"/>
            <a:ext cx="13580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Can damage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70441" y="4179332"/>
            <a:ext cx="1540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And causes an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494041" y="5059978"/>
            <a:ext cx="20890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Can be countered by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501682" y="5638800"/>
            <a:ext cx="657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Figure- The relationships among different security components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457200" y="6481207"/>
            <a:ext cx="3429000" cy="283845"/>
          </a:xfrm>
        </p:spPr>
        <p:txBody>
          <a:bodyPr/>
          <a:lstStyle/>
          <a:p>
            <a:r>
              <a:rPr lang="en-US"/>
              <a:t>ISYS 635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 rot="16200000">
            <a:off x="8227377" y="5873829"/>
            <a:ext cx="1315721" cy="365125"/>
          </a:xfrm>
        </p:spPr>
        <p:txBody>
          <a:bodyPr/>
          <a:lstStyle/>
          <a:p>
            <a:fld id="{BD0BD136-F42E-430F-98F4-7CA4EEDEF78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545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718"/>
            <a:ext cx="5791200" cy="533082"/>
          </a:xfrm>
        </p:spPr>
        <p:txBody>
          <a:bodyPr>
            <a:normAutofit fontScale="90000"/>
          </a:bodyPr>
          <a:lstStyle/>
          <a:p>
            <a:r>
              <a:rPr lang="en-US" dirty="0"/>
              <a:t>Risk Analysis Tasks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219200"/>
            <a:ext cx="8686800" cy="5257800"/>
          </a:xfrm>
        </p:spPr>
        <p:txBody>
          <a:bodyPr>
            <a:norm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3200" dirty="0"/>
              <a:t>Identify Critical Systems/Assets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3200" b="0" dirty="0"/>
              <a:t>Classify Critical Assets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3200" b="0" dirty="0"/>
              <a:t>Identify Vulnerabilities and threats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3200" b="0" dirty="0"/>
              <a:t>Quantify the probability of damage and cost of damage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3200" b="0" dirty="0"/>
              <a:t>Implement </a:t>
            </a:r>
            <a:r>
              <a:rPr lang="en-US" sz="3200" b="0" i="1" dirty="0"/>
              <a:t>cost effective</a:t>
            </a:r>
            <a:r>
              <a:rPr lang="en-US" sz="3200" b="0" dirty="0"/>
              <a:t> countermeasures!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ISYS 635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91149-7423-4847-B71D-0A0EF5E3A0BC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ISYS 635</a:t>
            </a:r>
            <a:endParaRPr lang="en-US" alt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63F6C8-470B-41F5-9570-637983E5A89F}" type="slidenum">
              <a:rPr lang="en-US" altLang="en-US"/>
              <a:pPr>
                <a:defRPr/>
              </a:pPr>
              <a:t>5</a:t>
            </a:fld>
            <a:endParaRPr lang="en-US" altLang="en-US" dirty="0"/>
          </a:p>
        </p:txBody>
      </p:sp>
      <p:sp>
        <p:nvSpPr>
          <p:cNvPr id="13317" name="Title 1"/>
          <p:cNvSpPr>
            <a:spLocks noGrp="1"/>
          </p:cNvSpPr>
          <p:nvPr>
            <p:ph type="title" idx="4294967295"/>
          </p:nvPr>
        </p:nvSpPr>
        <p:spPr>
          <a:xfrm>
            <a:off x="152400" y="152718"/>
            <a:ext cx="8686800" cy="990282"/>
          </a:xfrm>
        </p:spPr>
        <p:txBody>
          <a:bodyPr anchor="ctr">
            <a:noAutofit/>
          </a:bodyPr>
          <a:lstStyle/>
          <a:p>
            <a:pPr eaLnBrk="1" hangingPunct="1"/>
            <a:r>
              <a:rPr lang="en-US" sz="3200" b="1" dirty="0"/>
              <a:t>Identify Critical Systems/ASSETS</a:t>
            </a:r>
          </a:p>
        </p:txBody>
      </p:sp>
      <p:sp>
        <p:nvSpPr>
          <p:cNvPr id="13318" name="Content Placeholder 2"/>
          <p:cNvSpPr>
            <a:spLocks noGrp="1"/>
          </p:cNvSpPr>
          <p:nvPr>
            <p:ph idx="4294967295"/>
          </p:nvPr>
        </p:nvSpPr>
        <p:spPr>
          <a:xfrm>
            <a:off x="457200" y="1066800"/>
            <a:ext cx="8229600" cy="5064125"/>
          </a:xfrm>
        </p:spPr>
        <p:txBody>
          <a:bodyPr>
            <a:normAutofit/>
          </a:bodyPr>
          <a:lstStyle/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dirty="0"/>
              <a:t>Multiple information systems/assets within the scope of security assessment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dirty="0"/>
              <a:t>How to Identify Critical Systems/Assets?</a:t>
            </a:r>
          </a:p>
          <a:p>
            <a:pPr marL="800100" lvl="1" indent="-342900"/>
            <a:r>
              <a:rPr lang="en-US" sz="2400" dirty="0"/>
              <a:t>Use checklists</a:t>
            </a:r>
          </a:p>
          <a:p>
            <a:pPr marL="800100" lvl="1" indent="-342900"/>
            <a:r>
              <a:rPr lang="en-US" sz="2400" u="sng" dirty="0"/>
              <a:t>Identify</a:t>
            </a:r>
            <a:r>
              <a:rPr lang="en-US" sz="2400" dirty="0"/>
              <a:t> the critical systems/assets in terms of-</a:t>
            </a:r>
          </a:p>
          <a:p>
            <a:pPr marL="1485900" lvl="2" indent="-342900"/>
            <a:r>
              <a:rPr lang="en-US" sz="2200" dirty="0"/>
              <a:t>Their function</a:t>
            </a:r>
          </a:p>
          <a:p>
            <a:pPr marL="1485900" lvl="2" indent="-342900"/>
            <a:r>
              <a:rPr lang="en-US" sz="2200" dirty="0"/>
              <a:t>Data classification</a:t>
            </a:r>
          </a:p>
          <a:p>
            <a:pPr marL="1485900" lvl="2" indent="-342900"/>
            <a:r>
              <a:rPr lang="en-US" sz="2200" dirty="0"/>
              <a:t>Authorized users</a:t>
            </a:r>
          </a:p>
          <a:p>
            <a:pPr marL="800100" lvl="1" indent="-342900"/>
            <a:r>
              <a:rPr lang="en-US" sz="2400" dirty="0"/>
              <a:t>Review risk assessment reports from prior years</a:t>
            </a:r>
          </a:p>
          <a:p>
            <a:pPr marL="800100" lvl="1" indent="-342900"/>
            <a:r>
              <a:rPr lang="en-US" sz="2400" dirty="0"/>
              <a:t>Ask the </a:t>
            </a:r>
            <a:r>
              <a:rPr lang="en-US" sz="2400" dirty="0" err="1"/>
              <a:t>organisation</a:t>
            </a:r>
            <a:endParaRPr lang="en-US" sz="2400" dirty="0"/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68449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718"/>
            <a:ext cx="5791200" cy="533082"/>
          </a:xfrm>
        </p:spPr>
        <p:txBody>
          <a:bodyPr>
            <a:normAutofit fontScale="90000"/>
          </a:bodyPr>
          <a:lstStyle/>
          <a:p>
            <a:r>
              <a:rPr lang="en-US" dirty="0"/>
              <a:t>Risk Analysis Tasks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838200"/>
            <a:ext cx="8001000" cy="5638800"/>
          </a:xfrm>
        </p:spPr>
        <p:txBody>
          <a:bodyPr>
            <a:norm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3600" b="0" dirty="0"/>
              <a:t>Identify Critical Systems/Assets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3600" dirty="0"/>
              <a:t>Classify Critical Assets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3600" b="0" dirty="0"/>
              <a:t>Identify Vulnerabilities and threats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3600" b="0" dirty="0"/>
              <a:t>Quantify the probability of damage and cost of damage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3600" b="0" dirty="0"/>
              <a:t>Implement </a:t>
            </a:r>
            <a:r>
              <a:rPr lang="en-US" sz="3600" b="0" i="1" dirty="0"/>
              <a:t>cost effective</a:t>
            </a:r>
            <a:r>
              <a:rPr lang="en-US" sz="3600" b="0" dirty="0"/>
              <a:t> countermeasures!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ISYS 635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91149-7423-4847-B71D-0A0EF5E3A0BC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83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ISYS 635</a:t>
            </a:r>
            <a:endParaRPr lang="en-US" alt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A0D22E-5D7C-4A70-A803-0CE110CD6FC9}" type="slidenum">
              <a:rPr lang="en-US" altLang="en-US"/>
              <a:pPr>
                <a:defRPr/>
              </a:pPr>
              <a:t>7</a:t>
            </a:fld>
            <a:endParaRPr lang="en-US" altLang="en-US" dirty="0"/>
          </a:p>
        </p:txBody>
      </p:sp>
      <p:sp>
        <p:nvSpPr>
          <p:cNvPr id="15365" name="Title 1"/>
          <p:cNvSpPr>
            <a:spLocks noGrp="1"/>
          </p:cNvSpPr>
          <p:nvPr>
            <p:ph type="title" idx="4294967295"/>
          </p:nvPr>
        </p:nvSpPr>
        <p:spPr>
          <a:xfrm>
            <a:off x="457200" y="277813"/>
            <a:ext cx="8229600" cy="788987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sz="2800" b="1" dirty="0"/>
              <a:t>Classify Critical Systems/assets</a:t>
            </a:r>
          </a:p>
        </p:txBody>
      </p:sp>
      <p:sp>
        <p:nvSpPr>
          <p:cNvPr id="15366" name="Content Placeholder 2"/>
          <p:cNvSpPr>
            <a:spLocks noGrp="1"/>
          </p:cNvSpPr>
          <p:nvPr>
            <p:ph idx="4294967295"/>
          </p:nvPr>
        </p:nvSpPr>
        <p:spPr>
          <a:xfrm>
            <a:off x="152400" y="1143000"/>
            <a:ext cx="8534400" cy="5029200"/>
          </a:xfrm>
        </p:spPr>
        <p:txBody>
          <a:bodyPr>
            <a:noAutofit/>
          </a:bodyPr>
          <a:lstStyle/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sz="2400" b="1" dirty="0"/>
              <a:t>How to Classify Critical Systems/Assets?</a:t>
            </a:r>
          </a:p>
          <a:p>
            <a:pPr marL="800100" lvl="1" indent="-342900">
              <a:spcBef>
                <a:spcPts val="0"/>
              </a:spcBef>
            </a:pPr>
            <a:r>
              <a:rPr lang="en-US" sz="2400" b="1" dirty="0"/>
              <a:t>Approach 1</a:t>
            </a:r>
            <a:r>
              <a:rPr lang="en-US" sz="2400" dirty="0"/>
              <a:t>: Find the Asset Classification Information Elsewhere</a:t>
            </a:r>
          </a:p>
          <a:p>
            <a:pPr lvl="2">
              <a:spcBef>
                <a:spcPts val="0"/>
              </a:spcBef>
            </a:pPr>
            <a:r>
              <a:rPr lang="en-US" sz="2400" dirty="0"/>
              <a:t>Previous security assessments</a:t>
            </a:r>
          </a:p>
          <a:p>
            <a:pPr lvl="2">
              <a:spcBef>
                <a:spcPts val="0"/>
              </a:spcBef>
            </a:pPr>
            <a:r>
              <a:rPr lang="en-US" sz="2400" dirty="0"/>
              <a:t>Asset audits reports</a:t>
            </a:r>
          </a:p>
          <a:p>
            <a:pPr lvl="2">
              <a:spcBef>
                <a:spcPts val="0"/>
              </a:spcBef>
            </a:pPr>
            <a:r>
              <a:rPr lang="en-US" sz="2400" dirty="0"/>
              <a:t>Systems documentations</a:t>
            </a:r>
          </a:p>
          <a:p>
            <a:pPr marL="800100" lvl="1" indent="-342900">
              <a:spcBef>
                <a:spcPts val="0"/>
              </a:spcBef>
            </a:pPr>
            <a:r>
              <a:rPr lang="en-US" sz="2400" b="1" dirty="0"/>
              <a:t>Approach 2</a:t>
            </a:r>
            <a:r>
              <a:rPr lang="en-US" sz="2400" dirty="0"/>
              <a:t>: </a:t>
            </a:r>
            <a:r>
              <a:rPr lang="en-US" sz="2400" b="1" dirty="0"/>
              <a:t>Create Asset Information Quickly</a:t>
            </a:r>
          </a:p>
          <a:p>
            <a:pPr marL="1485900" lvl="2" indent="-342900">
              <a:spcBef>
                <a:spcPts val="0"/>
              </a:spcBef>
            </a:pPr>
            <a:r>
              <a:rPr lang="en-US" sz="2400" dirty="0"/>
              <a:t>Asset identification in accordance with exiting industry standards/best practices/relevant laws/security governance frameworks</a:t>
            </a:r>
          </a:p>
          <a:p>
            <a:pPr marL="800100" lvl="1" indent="-342900">
              <a:spcBef>
                <a:spcPts val="0"/>
              </a:spcBef>
            </a:pPr>
            <a:r>
              <a:rPr lang="en-US" sz="2400" b="1" dirty="0"/>
              <a:t>Approach 3: </a:t>
            </a:r>
            <a:r>
              <a:rPr lang="en-US" sz="2400" dirty="0"/>
              <a:t>Determine critical systems laboriously</a:t>
            </a:r>
          </a:p>
        </p:txBody>
      </p:sp>
    </p:spTree>
    <p:extLst>
      <p:ext uri="{BB962C8B-B14F-4D97-AF65-F5344CB8AC3E}">
        <p14:creationId xmlns:p14="http://schemas.microsoft.com/office/powerpoint/2010/main" val="4187949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ISYS 635</a:t>
            </a:r>
            <a:endParaRPr lang="en-US" altLang="en-US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3B2557-4516-4C70-B576-E761FD9C4566}" type="slidenum">
              <a:rPr lang="en-US" altLang="en-US"/>
              <a:pPr>
                <a:defRPr/>
              </a:pPr>
              <a:t>8</a:t>
            </a:fld>
            <a:endParaRPr lang="en-US" altLang="en-US" dirty="0"/>
          </a:p>
        </p:txBody>
      </p:sp>
      <p:sp>
        <p:nvSpPr>
          <p:cNvPr id="28677" name="Title 1"/>
          <p:cNvSpPr>
            <a:spLocks noGrp="1"/>
          </p:cNvSpPr>
          <p:nvPr>
            <p:ph type="title" idx="4294967295"/>
          </p:nvPr>
        </p:nvSpPr>
        <p:spPr>
          <a:xfrm>
            <a:off x="457200" y="228600"/>
            <a:ext cx="8229600" cy="609600"/>
          </a:xfrm>
        </p:spPr>
        <p:txBody>
          <a:bodyPr anchor="ctr">
            <a:normAutofit fontScale="90000"/>
          </a:bodyPr>
          <a:lstStyle/>
          <a:p>
            <a:r>
              <a:rPr lang="en-US" sz="3800" b="1" dirty="0"/>
              <a:t>classify Assets: Approach 2</a:t>
            </a:r>
            <a:endParaRPr lang="en-US" sz="3800" dirty="0"/>
          </a:p>
        </p:txBody>
      </p:sp>
      <p:graphicFrame>
        <p:nvGraphicFramePr>
          <p:cNvPr id="25627" name="Group 27"/>
          <p:cNvGraphicFramePr>
            <a:graphicFrameLocks noGrp="1"/>
          </p:cNvGraphicFramePr>
          <p:nvPr>
            <p:ph idx="4294967295"/>
          </p:nvPr>
        </p:nvGraphicFramePr>
        <p:xfrm>
          <a:off x="609600" y="1600200"/>
          <a:ext cx="8229600" cy="4419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0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Classification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Example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23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Sensitive Assets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Assets that contain any form of sensitive information including personal information on employees, configuration information of security controls, and company proprietary information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Employee applications, account passwords, pricing information, product designs, R&amp;D data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17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PHI (Protected Health Information)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(HIPPA)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Assets that contain individually identifiable health information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Medical records, health insurance applications, prescriptions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6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Customer Assets (GLB act)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Assets that contain any nonpublic personal information about a customer of a financial institution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Financial inquiries, bank statements, credit reports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700" name="TextBox 4"/>
          <p:cNvSpPr txBox="1">
            <a:spLocks noChangeArrowheads="1"/>
          </p:cNvSpPr>
          <p:nvPr/>
        </p:nvSpPr>
        <p:spPr bwMode="auto">
          <a:xfrm>
            <a:off x="457200" y="914400"/>
            <a:ext cx="8153400" cy="85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 dirty="0">
                <a:latin typeface="Calibri" pitchFamily="34" charset="0"/>
              </a:rPr>
              <a:t>Table</a:t>
            </a:r>
            <a:r>
              <a:rPr lang="en-US" dirty="0">
                <a:latin typeface="Calibri" pitchFamily="34" charset="0"/>
              </a:rPr>
              <a:t>: </a:t>
            </a:r>
            <a:r>
              <a:rPr lang="en-US" sz="1600" dirty="0">
                <a:latin typeface="Calibri" pitchFamily="34" charset="0"/>
              </a:rPr>
              <a:t>Sample Asset Classification- For many organizations assets may be easily </a:t>
            </a:r>
          </a:p>
          <a:p>
            <a:r>
              <a:rPr lang="en-US" sz="1600" dirty="0">
                <a:latin typeface="Calibri" pitchFamily="34" charset="0"/>
              </a:rPr>
              <a:t>Classified Into relatively few categories, thus making asset classification a relatively simple task.</a:t>
            </a:r>
          </a:p>
        </p:txBody>
      </p:sp>
    </p:spTree>
    <p:extLst>
      <p:ext uri="{BB962C8B-B14F-4D97-AF65-F5344CB8AC3E}">
        <p14:creationId xmlns:p14="http://schemas.microsoft.com/office/powerpoint/2010/main" val="231455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ISYS 635</a:t>
            </a:r>
            <a:endParaRPr lang="en-US" alt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AA2AE0-CF17-4419-9193-73C694083891}" type="slidenum">
              <a:rPr lang="en-US" altLang="en-US"/>
              <a:pPr>
                <a:defRPr/>
              </a:pPr>
              <a:t>9</a:t>
            </a:fld>
            <a:endParaRPr lang="en-US" altLang="en-US" dirty="0"/>
          </a:p>
        </p:txBody>
      </p:sp>
      <p:sp>
        <p:nvSpPr>
          <p:cNvPr id="16389" name="Title 1"/>
          <p:cNvSpPr>
            <a:spLocks noGrp="1"/>
          </p:cNvSpPr>
          <p:nvPr>
            <p:ph type="title" idx="4294967295"/>
          </p:nvPr>
        </p:nvSpPr>
        <p:spPr>
          <a:xfrm>
            <a:off x="457200" y="152718"/>
            <a:ext cx="8153400" cy="914082"/>
          </a:xfrm>
        </p:spPr>
        <p:txBody>
          <a:bodyPr anchor="ctr">
            <a:normAutofit fontScale="90000"/>
          </a:bodyPr>
          <a:lstStyle/>
          <a:p>
            <a:pPr eaLnBrk="1" hangingPunct="1"/>
            <a:r>
              <a:rPr lang="en-US" b="1" dirty="0"/>
              <a:t>Classify Critical Systems: Approach 3</a:t>
            </a:r>
            <a:endParaRPr lang="en-US" dirty="0"/>
          </a:p>
        </p:txBody>
      </p:sp>
      <p:sp>
        <p:nvSpPr>
          <p:cNvPr id="16390" name="Content Placeholder 2"/>
          <p:cNvSpPr>
            <a:spLocks noGrp="1"/>
          </p:cNvSpPr>
          <p:nvPr>
            <p:ph idx="4294967295"/>
          </p:nvPr>
        </p:nvSpPr>
        <p:spPr>
          <a:xfrm>
            <a:off x="320675" y="1143000"/>
            <a:ext cx="8382000" cy="4983163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/>
              <a:t>Value of the System- Function of </a:t>
            </a:r>
            <a:r>
              <a:rPr lang="en-US" sz="3600" b="1" dirty="0"/>
              <a:t>Financial Impact of Asset Failure, e.g.,</a:t>
            </a:r>
          </a:p>
          <a:p>
            <a:pPr marL="1017270" lvl="1" indent="-742950">
              <a:buFont typeface="+mj-lt"/>
              <a:buAutoNum type="alphaLcParenR"/>
            </a:pPr>
            <a:r>
              <a:rPr lang="en-US" sz="3400" dirty="0"/>
              <a:t>Cost to acquire or develop the asset</a:t>
            </a:r>
          </a:p>
          <a:p>
            <a:pPr marL="1017270" lvl="1" indent="-742950">
              <a:buFont typeface="+mj-lt"/>
              <a:buAutoNum type="alphaLcParenR"/>
            </a:pPr>
            <a:r>
              <a:rPr lang="en-US" sz="3600" dirty="0"/>
              <a:t>Cost to maintain and protect the asset</a:t>
            </a:r>
          </a:p>
          <a:p>
            <a:pPr marL="1017270" lvl="1" indent="-742950">
              <a:buFont typeface="+mj-lt"/>
              <a:buAutoNum type="alphaLcParenR"/>
            </a:pPr>
            <a:r>
              <a:rPr lang="en-US" sz="3600" dirty="0"/>
              <a:t>Replacement Cost</a:t>
            </a:r>
          </a:p>
          <a:p>
            <a:pPr marL="1017270" lvl="1" indent="-742950">
              <a:buFont typeface="+mj-lt"/>
              <a:buAutoNum type="alphaLcParenR"/>
            </a:pPr>
            <a:r>
              <a:rPr lang="en-US" sz="3600" dirty="0"/>
              <a:t>Legal Cost</a:t>
            </a:r>
          </a:p>
          <a:p>
            <a:pPr marL="1017270" lvl="1" indent="-742950">
              <a:buFont typeface="+mj-lt"/>
              <a:buAutoNum type="alphaLcParenR"/>
            </a:pPr>
            <a:r>
              <a:rPr lang="en-US" sz="3800" dirty="0"/>
              <a:t>Cost due to disruptions in operations</a:t>
            </a:r>
          </a:p>
          <a:p>
            <a:pPr marL="1017270" lvl="1" indent="-742950">
              <a:buFont typeface="+mj-lt"/>
              <a:buAutoNum type="alphaLcParenR"/>
            </a:pPr>
            <a:r>
              <a:rPr lang="en-US" sz="3800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4129458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131" y="319499"/>
            <a:ext cx="8138131" cy="1279524"/>
          </a:xfrm>
        </p:spPr>
        <p:txBody>
          <a:bodyPr>
            <a:normAutofit fontScale="90000"/>
          </a:bodyPr>
          <a:lstStyle/>
          <a:p>
            <a:r>
              <a:rPr lang="en-US" dirty="0"/>
              <a:t>Determinants of Data Breach Incident Cost</a:t>
            </a:r>
            <a:br>
              <a:rPr lang="en-US" dirty="0"/>
            </a:br>
            <a:r>
              <a:rPr lang="en-US" sz="900" dirty="0"/>
              <a:t>(Source: IBM Security’s “Cost of Data Breach report 2019”)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133" y="1915689"/>
            <a:ext cx="8214331" cy="3810000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Detection and Escalation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Notification of Data Breach to Relevant Stakeholders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Post Data Breach Response (or Incident Response)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Lost Business Cost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EBA37-26CF-48C9-B444-B2390411AF69}" type="datetime1">
              <a:rPr lang="en-US" smtClean="0"/>
              <a:t>2/28/2023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ISTM635: Business Information Security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02BC7-6269-4CEE-9F7E-AC23FB1B9E1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162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ISYS 635</a:t>
            </a:r>
            <a:endParaRPr lang="en-US" alt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76EAE5-AAEA-4490-A903-2945E7C794B1}" type="slidenum">
              <a:rPr lang="en-US" altLang="en-US"/>
              <a:pPr>
                <a:defRPr/>
              </a:pPr>
              <a:t>11</a:t>
            </a:fld>
            <a:endParaRPr lang="en-US" altLang="en-US" dirty="0"/>
          </a:p>
        </p:txBody>
      </p:sp>
      <p:sp>
        <p:nvSpPr>
          <p:cNvPr id="17413" name="Title 1"/>
          <p:cNvSpPr>
            <a:spLocks noGrp="1"/>
          </p:cNvSpPr>
          <p:nvPr>
            <p:ph type="title" idx="4294967295"/>
          </p:nvPr>
        </p:nvSpPr>
        <p:spPr>
          <a:xfrm>
            <a:off x="304800" y="277813"/>
            <a:ext cx="8382000" cy="1326834"/>
          </a:xfrm>
        </p:spPr>
        <p:txBody>
          <a:bodyPr anchor="ctr"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Classify Assets in terms of legal impact &amp; Financial Impact</a:t>
            </a:r>
            <a:endParaRPr lang="en-US" dirty="0"/>
          </a:p>
        </p:txBody>
      </p:sp>
      <p:sp>
        <p:nvSpPr>
          <p:cNvPr id="17414" name="Content Placeholder 2"/>
          <p:cNvSpPr>
            <a:spLocks noGrp="1"/>
          </p:cNvSpPr>
          <p:nvPr>
            <p:ph idx="4294967295"/>
          </p:nvPr>
        </p:nvSpPr>
        <p:spPr>
          <a:xfrm>
            <a:off x="228599" y="1604647"/>
            <a:ext cx="8474075" cy="4888228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Determine Criticality: Classify according to their </a:t>
            </a:r>
            <a:r>
              <a:rPr lang="en-US" sz="2400" b="1" dirty="0">
                <a:solidFill>
                  <a:srgbClr val="3366CC"/>
                </a:solidFill>
              </a:rPr>
              <a:t>Protection Requirements</a:t>
            </a:r>
            <a:r>
              <a:rPr lang="en-US" sz="2400" dirty="0"/>
              <a:t>, e.g., Measures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2400" b="1" dirty="0"/>
              <a:t>High</a:t>
            </a:r>
            <a:r>
              <a:rPr lang="en-US" sz="2400" dirty="0"/>
              <a:t> [3] =&gt; Asset failure will </a:t>
            </a:r>
            <a:r>
              <a:rPr lang="en-US" sz="2400" u="sng" dirty="0"/>
              <a:t>result in legal action</a:t>
            </a:r>
            <a:r>
              <a:rPr lang="en-US" sz="2400" dirty="0"/>
              <a:t> that could lead to imprisonment, fines exceeding $1 million, and cost of detection &amp; escalation, incident notification, incident response, and lost business exceeding $1 million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2400" b="1" dirty="0"/>
              <a:t>Medium</a:t>
            </a:r>
            <a:r>
              <a:rPr lang="en-US" sz="2400" dirty="0"/>
              <a:t> [2] =&gt; Asset failure will </a:t>
            </a:r>
            <a:r>
              <a:rPr lang="en-US" sz="2400" u="sng" dirty="0"/>
              <a:t>result in legal action</a:t>
            </a:r>
            <a:r>
              <a:rPr lang="en-US" sz="2400" dirty="0"/>
              <a:t> for correction and fines exceeding $0.5 - $1 million, and cost of detection &amp; escalation, incident notification, incident response, and lost business exceeding $0.5 million but less than $1 million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2400" b="1" dirty="0"/>
              <a:t>Low [1] </a:t>
            </a:r>
            <a:r>
              <a:rPr lang="en-US" sz="2400" dirty="0"/>
              <a:t>=&gt; Asset failure will </a:t>
            </a:r>
            <a:r>
              <a:rPr lang="en-US" sz="2400" u="sng" dirty="0"/>
              <a:t>result in no legal action</a:t>
            </a:r>
            <a:r>
              <a:rPr lang="en-US" sz="2400" dirty="0"/>
              <a:t> but will require administrative correction, and cost of detection &amp; escalation, incident notification, incident response, and lost business </a:t>
            </a:r>
            <a:r>
              <a:rPr lang="en-US" sz="2400" dirty="0" err="1"/>
              <a:t>upto</a:t>
            </a:r>
            <a:r>
              <a:rPr lang="en-US" sz="2400" dirty="0"/>
              <a:t> $0.5 million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2400" b="1" dirty="0"/>
              <a:t>None [0] </a:t>
            </a:r>
            <a:r>
              <a:rPr lang="en-US" sz="2400" dirty="0"/>
              <a:t>=&gt; Asset failure will </a:t>
            </a:r>
            <a:r>
              <a:rPr lang="en-US" sz="2400" u="sng" dirty="0"/>
              <a:t>result in neither legal action</a:t>
            </a:r>
            <a:r>
              <a:rPr lang="en-US" sz="2400" dirty="0"/>
              <a:t> nor administrative correction</a:t>
            </a:r>
          </a:p>
        </p:txBody>
      </p:sp>
    </p:spTree>
    <p:extLst>
      <p:ext uri="{BB962C8B-B14F-4D97-AF65-F5344CB8AC3E}">
        <p14:creationId xmlns:p14="http://schemas.microsoft.com/office/powerpoint/2010/main" val="2820148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152718"/>
            <a:ext cx="8245475" cy="53308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Classify Assets in terms of Operational impact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85800"/>
            <a:ext cx="8534400" cy="57150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STEP 1</a:t>
            </a:r>
            <a:r>
              <a:rPr lang="en-US" sz="1800" b="0" dirty="0"/>
              <a:t>: </a:t>
            </a:r>
            <a:r>
              <a:rPr lang="en-US" sz="1800" dirty="0"/>
              <a:t>Identify the Core Business processes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0" u="sng" dirty="0"/>
              <a:t>Example </a:t>
            </a:r>
            <a:r>
              <a:rPr lang="en-US" sz="1800" b="0" dirty="0"/>
              <a:t>of core business processes-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dirty="0"/>
              <a:t>Online Customer Ordering Process (BP1)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dirty="0"/>
              <a:t>Order Processing Process (BP2)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dirty="0"/>
              <a:t>Return Handling Process (BP3)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STEP 2</a:t>
            </a:r>
            <a:r>
              <a:rPr lang="en-US" sz="1800" b="0" dirty="0"/>
              <a:t>: </a:t>
            </a:r>
            <a:r>
              <a:rPr lang="en-US" sz="1800" dirty="0"/>
              <a:t>Define the measures for “impact on business process”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0" u="sng" dirty="0"/>
              <a:t>Example</a:t>
            </a:r>
            <a:r>
              <a:rPr lang="en-US" sz="1800" b="0" dirty="0"/>
              <a:t> of a measurement scale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1" dirty="0"/>
              <a:t>Critical</a:t>
            </a:r>
            <a:r>
              <a:rPr lang="en-US" sz="1800" b="0" dirty="0"/>
              <a:t>- Asset failure will result in a total disruption of the business process for at least 2 hours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1" dirty="0"/>
              <a:t>Important</a:t>
            </a:r>
            <a:r>
              <a:rPr lang="en-US" sz="1800" b="0" dirty="0"/>
              <a:t>- Asset failure will result in slowing down of the business process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1" dirty="0"/>
              <a:t>Supportive</a:t>
            </a:r>
            <a:r>
              <a:rPr lang="en-US" sz="1800" b="0" dirty="0"/>
              <a:t>- Asset failure will have minimal impact on the business process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1" dirty="0"/>
              <a:t>No impact</a:t>
            </a:r>
            <a:r>
              <a:rPr lang="en-US" sz="1800" b="0" dirty="0"/>
              <a:t>- Asset failure will have no impact on the business process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STEP 3</a:t>
            </a:r>
            <a:r>
              <a:rPr lang="en-US" sz="1800" b="0" dirty="0"/>
              <a:t>: </a:t>
            </a:r>
            <a:r>
              <a:rPr lang="en-US" sz="1800" dirty="0"/>
              <a:t>Score the impact on the business process if an asset is compromised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0" u="sng" dirty="0"/>
              <a:t>Example:</a:t>
            </a:r>
            <a:r>
              <a:rPr lang="en-US" sz="1800" b="0" dirty="0"/>
              <a:t> Asset being scored is the Web Server hosting the retail site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dirty="0"/>
              <a:t>Failure of this web server will stop any online ordering, i.e., </a:t>
            </a:r>
            <a:r>
              <a:rPr lang="en-US" sz="1800" dirty="0"/>
              <a:t>Score = Critical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dirty="0"/>
              <a:t>Failure of this server will have no impact on the orders already received, i.e., </a:t>
            </a:r>
            <a:r>
              <a:rPr lang="en-US" sz="1800" dirty="0"/>
              <a:t>Score= No Impact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dirty="0"/>
              <a:t>Failure of the web server will have no impact on return handling, i.e., </a:t>
            </a:r>
            <a:r>
              <a:rPr lang="en-US" sz="1800" dirty="0"/>
              <a:t>Score = No Impact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ISYS 635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91149-7423-4847-B71D-0A0EF5E3A0BC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869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ISYS 635</a:t>
            </a:r>
            <a:endParaRPr lang="en-US" alt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30079-9278-447B-89CF-775F0D47A620}" type="slidenum">
              <a:rPr lang="en-US" altLang="en-US"/>
              <a:pPr>
                <a:defRPr/>
              </a:pPr>
              <a:t>13</a:t>
            </a:fld>
            <a:endParaRPr lang="en-US" altLang="en-US" dirty="0"/>
          </a:p>
        </p:txBody>
      </p:sp>
      <p:sp>
        <p:nvSpPr>
          <p:cNvPr id="20485" name="Title 1"/>
          <p:cNvSpPr>
            <a:spLocks noGrp="1"/>
          </p:cNvSpPr>
          <p:nvPr>
            <p:ph type="title" idx="4294967295"/>
          </p:nvPr>
        </p:nvSpPr>
        <p:spPr>
          <a:xfrm>
            <a:off x="457200" y="277813"/>
            <a:ext cx="8229600" cy="941387"/>
          </a:xfrm>
        </p:spPr>
        <p:txBody>
          <a:bodyPr anchor="ctr"/>
          <a:lstStyle/>
          <a:p>
            <a:pPr eaLnBrk="1" hangingPunct="1"/>
            <a:r>
              <a:rPr lang="en-US" b="1" dirty="0"/>
              <a:t>Classify Critical Systems</a:t>
            </a:r>
            <a:endParaRPr lang="en-US" dirty="0"/>
          </a:p>
        </p:txBody>
      </p:sp>
      <p:sp>
        <p:nvSpPr>
          <p:cNvPr id="20486" name="Content Placeholder 2"/>
          <p:cNvSpPr>
            <a:spLocks noGrp="1"/>
          </p:cNvSpPr>
          <p:nvPr>
            <p:ph idx="4294967295"/>
          </p:nvPr>
        </p:nvSpPr>
        <p:spPr>
          <a:xfrm>
            <a:off x="381000" y="1143000"/>
            <a:ext cx="8229600" cy="14478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1800" dirty="0"/>
              <a:t>Determine Criticality Laboriously</a:t>
            </a:r>
          </a:p>
          <a:p>
            <a:pPr lvl="1" eaLnBrk="1" hangingPunct="1"/>
            <a:r>
              <a:rPr lang="en-US" sz="1600" dirty="0"/>
              <a:t>Classify According to </a:t>
            </a:r>
            <a:r>
              <a:rPr lang="en-US" sz="1600" b="1" dirty="0"/>
              <a:t>Financial Impact</a:t>
            </a:r>
          </a:p>
          <a:p>
            <a:pPr lvl="1"/>
            <a:r>
              <a:rPr lang="en-US" sz="1600" dirty="0"/>
              <a:t>Classify According to </a:t>
            </a:r>
            <a:r>
              <a:rPr lang="en-US" sz="1600" b="1" dirty="0"/>
              <a:t>Operational Impact</a:t>
            </a:r>
          </a:p>
          <a:p>
            <a:pPr lvl="1"/>
            <a:r>
              <a:rPr lang="en-US" sz="1600" dirty="0"/>
              <a:t>Classify according to their </a:t>
            </a:r>
            <a:r>
              <a:rPr lang="en-US" sz="1600" b="1" dirty="0"/>
              <a:t>Legal Impact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1980815" y="2286000"/>
            <a:ext cx="4877185" cy="3810774"/>
            <a:chOff x="990215" y="2286000"/>
            <a:chExt cx="4877185" cy="3810774"/>
          </a:xfrm>
        </p:grpSpPr>
        <p:cxnSp>
          <p:nvCxnSpPr>
            <p:cNvPr id="8" name="Straight Arrow Connector 7"/>
            <p:cNvCxnSpPr/>
            <p:nvPr/>
          </p:nvCxnSpPr>
          <p:spPr>
            <a:xfrm rot="5400000" flipH="1" flipV="1">
              <a:off x="763588" y="4800600"/>
              <a:ext cx="197961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1752600" y="5791200"/>
              <a:ext cx="25146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rot="5400000" flipH="1" flipV="1">
              <a:off x="1752600" y="4724400"/>
              <a:ext cx="1066800" cy="1066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490" name="TextBox 15"/>
            <p:cNvSpPr txBox="1">
              <a:spLocks noChangeArrowheads="1"/>
            </p:cNvSpPr>
            <p:nvPr/>
          </p:nvSpPr>
          <p:spPr bwMode="auto">
            <a:xfrm rot="16200000">
              <a:off x="597159" y="4645432"/>
              <a:ext cx="106311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dirty="0"/>
                <a:t>Legal Impact</a:t>
              </a:r>
            </a:p>
          </p:txBody>
        </p:sp>
        <p:sp>
          <p:nvSpPr>
            <p:cNvPr id="20491" name="TextBox 16"/>
            <p:cNvSpPr txBox="1">
              <a:spLocks noChangeArrowheads="1"/>
            </p:cNvSpPr>
            <p:nvPr/>
          </p:nvSpPr>
          <p:spPr bwMode="auto">
            <a:xfrm>
              <a:off x="1295400" y="5715000"/>
              <a:ext cx="465138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dirty="0"/>
                <a:t>Low</a:t>
              </a:r>
            </a:p>
          </p:txBody>
        </p:sp>
        <p:sp>
          <p:nvSpPr>
            <p:cNvPr id="20492" name="TextBox 17"/>
            <p:cNvSpPr txBox="1">
              <a:spLocks noChangeArrowheads="1"/>
            </p:cNvSpPr>
            <p:nvPr/>
          </p:nvSpPr>
          <p:spPr bwMode="auto">
            <a:xfrm>
              <a:off x="1295400" y="3686175"/>
              <a:ext cx="498475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dirty="0"/>
                <a:t>High</a:t>
              </a:r>
            </a:p>
          </p:txBody>
        </p:sp>
        <p:sp>
          <p:nvSpPr>
            <p:cNvPr id="20493" name="TextBox 18"/>
            <p:cNvSpPr txBox="1">
              <a:spLocks noChangeArrowheads="1"/>
            </p:cNvSpPr>
            <p:nvPr/>
          </p:nvSpPr>
          <p:spPr bwMode="auto">
            <a:xfrm>
              <a:off x="2286000" y="4495800"/>
              <a:ext cx="498475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dirty="0"/>
                <a:t>High</a:t>
              </a:r>
            </a:p>
          </p:txBody>
        </p:sp>
        <p:sp>
          <p:nvSpPr>
            <p:cNvPr id="20494" name="TextBox 19"/>
            <p:cNvSpPr txBox="1">
              <a:spLocks noChangeArrowheads="1"/>
            </p:cNvSpPr>
            <p:nvPr/>
          </p:nvSpPr>
          <p:spPr bwMode="auto">
            <a:xfrm>
              <a:off x="4267200" y="5743575"/>
              <a:ext cx="498475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dirty="0"/>
                <a:t>High</a:t>
              </a:r>
            </a:p>
          </p:txBody>
        </p:sp>
        <p:sp>
          <p:nvSpPr>
            <p:cNvPr id="20495" name="TextBox 20"/>
            <p:cNvSpPr txBox="1">
              <a:spLocks noChangeArrowheads="1"/>
            </p:cNvSpPr>
            <p:nvPr/>
          </p:nvSpPr>
          <p:spPr bwMode="auto">
            <a:xfrm>
              <a:off x="2667000" y="5819775"/>
              <a:ext cx="148149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dirty="0"/>
                <a:t>Operational Impact</a:t>
              </a:r>
            </a:p>
          </p:txBody>
        </p:sp>
        <p:sp>
          <p:nvSpPr>
            <p:cNvPr id="20496" name="TextBox 21"/>
            <p:cNvSpPr txBox="1">
              <a:spLocks noChangeArrowheads="1"/>
            </p:cNvSpPr>
            <p:nvPr/>
          </p:nvSpPr>
          <p:spPr bwMode="auto">
            <a:xfrm rot="18821505">
              <a:off x="1981103" y="5143113"/>
              <a:ext cx="1301959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dirty="0"/>
                <a:t>Financial Impact</a:t>
              </a:r>
            </a:p>
          </p:txBody>
        </p:sp>
        <p:cxnSp>
          <p:nvCxnSpPr>
            <p:cNvPr id="24" name="Straight Arrow Connector 23"/>
            <p:cNvCxnSpPr/>
            <p:nvPr/>
          </p:nvCxnSpPr>
          <p:spPr>
            <a:xfrm>
              <a:off x="1752600" y="3810000"/>
              <a:ext cx="25146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 rot="5400000" flipH="1" flipV="1">
              <a:off x="3276600" y="4799013"/>
              <a:ext cx="1979613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>
              <a:off x="2819400" y="4724400"/>
              <a:ext cx="25146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rot="5400000" flipH="1" flipV="1">
              <a:off x="4267200" y="4724400"/>
              <a:ext cx="1066800" cy="1066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rot="5400000" flipH="1" flipV="1">
              <a:off x="1752600" y="2743200"/>
              <a:ext cx="1066800" cy="1066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 rot="5400000" flipH="1" flipV="1">
              <a:off x="1830388" y="3733800"/>
              <a:ext cx="197961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 35"/>
            <p:cNvSpPr/>
            <p:nvPr/>
          </p:nvSpPr>
          <p:spPr>
            <a:xfrm>
              <a:off x="4724400" y="2286000"/>
              <a:ext cx="1143000" cy="106680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37" name="Straight Arrow Connector 36"/>
            <p:cNvCxnSpPr/>
            <p:nvPr/>
          </p:nvCxnSpPr>
          <p:spPr>
            <a:xfrm rot="5400000" flipH="1" flipV="1">
              <a:off x="4267200" y="2743200"/>
              <a:ext cx="1066800" cy="1066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rot="5400000" flipH="1" flipV="1">
              <a:off x="4343400" y="3732213"/>
              <a:ext cx="1979613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>
              <a:off x="2819400" y="2743200"/>
              <a:ext cx="25146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7656511" y="2620383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VALUE</a:t>
            </a:r>
          </a:p>
        </p:txBody>
      </p:sp>
      <p:cxnSp>
        <p:nvCxnSpPr>
          <p:cNvPr id="4" name="Straight Arrow Connector 3"/>
          <p:cNvCxnSpPr>
            <a:stCxn id="2" idx="1"/>
            <a:endCxn id="36" idx="6"/>
          </p:cNvCxnSpPr>
          <p:nvPr/>
        </p:nvCxnSpPr>
        <p:spPr>
          <a:xfrm flipH="1">
            <a:off x="6858000" y="2805049"/>
            <a:ext cx="798511" cy="14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0338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8001000" cy="1371600"/>
          </a:xfrm>
        </p:spPr>
        <p:txBody>
          <a:bodyPr>
            <a:normAutofit/>
          </a:bodyPr>
          <a:lstStyle/>
          <a:p>
            <a:r>
              <a:rPr lang="en-US" dirty="0"/>
              <a:t>Asset Identification and Classification-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153400" cy="437356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Step 1: Identify</a:t>
            </a:r>
            <a:r>
              <a:rPr lang="en-US" sz="2400" b="0" dirty="0"/>
              <a:t> a list all critical assets using checklists and/or based on owner, data stored, users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Step 2</a:t>
            </a:r>
            <a:r>
              <a:rPr lang="en-US" sz="2400" b="0" dirty="0"/>
              <a:t>: Estimate </a:t>
            </a:r>
            <a:r>
              <a:rPr lang="en-US" sz="2400" dirty="0"/>
              <a:t>Asset Value </a:t>
            </a:r>
            <a:r>
              <a:rPr lang="en-US" sz="2400" b="0" dirty="0"/>
              <a:t>based on </a:t>
            </a:r>
            <a:r>
              <a:rPr lang="en-US" sz="2400" b="0" u="sng" dirty="0"/>
              <a:t>one </a:t>
            </a:r>
            <a:r>
              <a:rPr lang="en-US" sz="2400" u="sng" dirty="0"/>
              <a:t>or</a:t>
            </a:r>
            <a:r>
              <a:rPr lang="en-US" sz="2400" b="0" u="sng" dirty="0"/>
              <a:t> more factors</a:t>
            </a:r>
            <a:r>
              <a:rPr lang="en-US" sz="2400" b="0" dirty="0"/>
              <a:t> such as-</a:t>
            </a:r>
          </a:p>
          <a:p>
            <a:pPr marL="800100" lvl="1" indent="-342900"/>
            <a:r>
              <a:rPr lang="en-US" sz="2400" dirty="0"/>
              <a:t>Financial Impact</a:t>
            </a:r>
          </a:p>
          <a:p>
            <a:pPr marL="800100" lvl="1" indent="-342900"/>
            <a:r>
              <a:rPr lang="en-US" sz="2400" dirty="0"/>
              <a:t>Operational Impact</a:t>
            </a:r>
          </a:p>
          <a:p>
            <a:pPr marL="800100" lvl="1" indent="-342900"/>
            <a:r>
              <a:rPr lang="en-US" sz="2400" dirty="0"/>
              <a:t>Legal Impact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Step 3</a:t>
            </a:r>
            <a:r>
              <a:rPr lang="en-US" sz="2400" b="0" dirty="0"/>
              <a:t>: Propose and define your qualitative measures to score each asset. 	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ISYS 635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91149-7423-4847-B71D-0A0EF5E3A0BC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965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ISYS 635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BD136-F42E-430F-98F4-7CA4EEDEF78A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258106"/>
              </p:ext>
            </p:extLst>
          </p:nvPr>
        </p:nvGraphicFramePr>
        <p:xfrm>
          <a:off x="76200" y="76200"/>
          <a:ext cx="8382000" cy="23145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18457">
                  <a:extLst>
                    <a:ext uri="{9D8B030D-6E8A-4147-A177-3AD203B41FA5}">
                      <a16:colId xmlns:a16="http://schemas.microsoft.com/office/drawing/2014/main" val="3806506638"/>
                    </a:ext>
                  </a:extLst>
                </a:gridCol>
                <a:gridCol w="1037771">
                  <a:extLst>
                    <a:ext uri="{9D8B030D-6E8A-4147-A177-3AD203B41FA5}">
                      <a16:colId xmlns:a16="http://schemas.microsoft.com/office/drawing/2014/main" val="1928298641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4027902564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448671768"/>
                    </a:ext>
                  </a:extLst>
                </a:gridCol>
                <a:gridCol w="1037771">
                  <a:extLst>
                    <a:ext uri="{9D8B030D-6E8A-4147-A177-3AD203B41FA5}">
                      <a16:colId xmlns:a16="http://schemas.microsoft.com/office/drawing/2014/main" val="2624612385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98135612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37827783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362572790"/>
                    </a:ext>
                  </a:extLst>
                </a:gridCol>
              </a:tblGrid>
              <a:tr h="333375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ASSET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Financial  Impact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+mn-ea"/>
                          <a:cs typeface="+mn-cs"/>
                        </a:rPr>
                        <a:t>Operational</a:t>
                      </a:r>
                      <a:r>
                        <a:rPr lang="en-US" sz="12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Impact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Legal Impact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9760911"/>
                  </a:ext>
                </a:extLst>
              </a:tr>
              <a:tr h="6667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Detection, Escalation &amp; Notification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Incident Response</a:t>
                      </a:r>
                      <a:endParaRPr lang="en-US" sz="12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Lost Business</a:t>
                      </a:r>
                      <a:endParaRPr lang="en-US" sz="12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Inventory Fulfillment</a:t>
                      </a:r>
                      <a:endParaRPr lang="en-US" sz="12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Customer Order Processing</a:t>
                      </a:r>
                      <a:endParaRPr lang="en-US" sz="12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Product Return Handling</a:t>
                      </a:r>
                      <a:endParaRPr lang="en-US" sz="12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  <a:ea typeface="+mn-ea"/>
                          <a:cs typeface="+mn-cs"/>
                        </a:rPr>
                        <a:t>California Consumer Privacy Act</a:t>
                      </a:r>
                      <a:endParaRPr lang="en-US" sz="12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26827762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A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rgbClr val="002060"/>
                          </a:solidFill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100" b="1" dirty="0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 [3]</a:t>
                      </a:r>
                      <a:endParaRPr lang="en-US" sz="1100" b="1" dirty="0">
                        <a:solidFill>
                          <a:srgbClr val="00206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rgbClr val="002060"/>
                          </a:solidFill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MEDIUM</a:t>
                      </a:r>
                      <a:r>
                        <a:rPr lang="en-US" sz="1100" b="1" dirty="0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 [2]</a:t>
                      </a:r>
                      <a:endParaRPr lang="en-US" sz="1100" b="1" dirty="0">
                        <a:solidFill>
                          <a:srgbClr val="00206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rgbClr val="002060"/>
                          </a:solidFill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MEDIUM </a:t>
                      </a:r>
                      <a:r>
                        <a:rPr lang="en-US" sz="1100" b="1" dirty="0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[2] </a:t>
                      </a:r>
                      <a:endParaRPr lang="en-US" sz="1100" b="1" dirty="0">
                        <a:solidFill>
                          <a:srgbClr val="00206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</a:rPr>
                        <a:t> </a:t>
                      </a:r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Critical [3]</a:t>
                      </a:r>
                      <a:endParaRPr lang="en-US" sz="11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Important</a:t>
                      </a:r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</a:rPr>
                        <a:t> [2]</a:t>
                      </a:r>
                      <a:endParaRPr lang="en-US" sz="11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 Impact</a:t>
                      </a:r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11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High [3]</a:t>
                      </a:r>
                      <a:endParaRPr lang="en-US" sz="1100" b="1" dirty="0">
                        <a:solidFill>
                          <a:schemeClr val="tx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555105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rgbClr val="002060"/>
                          </a:solidFill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</a:t>
                      </a:r>
                      <a:r>
                        <a:rPr lang="en-US" sz="1100" b="1" dirty="0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 [1]</a:t>
                      </a:r>
                      <a:endParaRPr lang="en-US" sz="1100" b="1" dirty="0">
                        <a:solidFill>
                          <a:srgbClr val="00206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rgbClr val="002060"/>
                          </a:solidFill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MEDIUM</a:t>
                      </a:r>
                      <a:r>
                        <a:rPr lang="en-US" sz="1100" b="1" dirty="0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 [2]</a:t>
                      </a:r>
                      <a:endParaRPr lang="en-US" sz="1100" b="1" dirty="0">
                        <a:solidFill>
                          <a:srgbClr val="00206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rgbClr val="002060"/>
                          </a:solidFill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100" b="1" dirty="0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 [3]</a:t>
                      </a:r>
                      <a:endParaRPr lang="en-US" sz="1100" b="1" dirty="0">
                        <a:solidFill>
                          <a:srgbClr val="00206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Important</a:t>
                      </a:r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</a:rPr>
                        <a:t> [2]</a:t>
                      </a:r>
                      <a:endParaRPr lang="en-US" sz="11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 Impact</a:t>
                      </a:r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</a:rPr>
                        <a:t> [0]</a:t>
                      </a:r>
                      <a:endParaRPr lang="en-US" sz="11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Critical</a:t>
                      </a:r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11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 </a:t>
                      </a: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 [0]</a:t>
                      </a:r>
                      <a:endParaRPr lang="en-US" sz="1100" b="1" dirty="0">
                        <a:solidFill>
                          <a:schemeClr val="tx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9234321"/>
                  </a:ext>
                </a:extLst>
              </a:tr>
              <a:tr h="2266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rgbClr val="002060"/>
                          </a:solidFill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</a:t>
                      </a:r>
                      <a:r>
                        <a:rPr lang="en-US" sz="1100" b="1" dirty="0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 [1]</a:t>
                      </a:r>
                      <a:endParaRPr lang="en-US" sz="1100" b="1" dirty="0">
                        <a:solidFill>
                          <a:srgbClr val="00206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rgbClr val="002060"/>
                          </a:solidFill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MEDIUM</a:t>
                      </a:r>
                      <a:r>
                        <a:rPr lang="en-US" sz="1100" b="1" dirty="0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 [2]</a:t>
                      </a:r>
                      <a:endParaRPr lang="en-US" sz="1100" b="1" dirty="0">
                        <a:solidFill>
                          <a:srgbClr val="00206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rgbClr val="002060"/>
                          </a:solidFill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MEDIUM </a:t>
                      </a:r>
                      <a:r>
                        <a:rPr lang="en-US" sz="1100" b="1" dirty="0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[2] </a:t>
                      </a:r>
                      <a:endParaRPr lang="en-US" sz="1100" b="1" dirty="0">
                        <a:solidFill>
                          <a:srgbClr val="00206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 Impact</a:t>
                      </a:r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</a:rPr>
                        <a:t> [0]</a:t>
                      </a:r>
                      <a:endParaRPr lang="en-US" sz="11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Supportive</a:t>
                      </a:r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</a:rPr>
                        <a:t> [1]</a:t>
                      </a:r>
                      <a:endParaRPr lang="en-US" sz="11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Critical</a:t>
                      </a:r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11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 [0]</a:t>
                      </a:r>
                      <a:endParaRPr lang="en-US" sz="1100" b="1" dirty="0">
                        <a:solidFill>
                          <a:schemeClr val="tx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59484432"/>
                  </a:ext>
                </a:extLst>
              </a:tr>
              <a:tr h="2305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rgbClr val="002060"/>
                          </a:solidFill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</a:t>
                      </a:r>
                      <a:r>
                        <a:rPr lang="en-US" sz="1100" b="1" dirty="0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 [1]</a:t>
                      </a:r>
                      <a:endParaRPr lang="en-US" sz="1100" b="1" dirty="0">
                        <a:solidFill>
                          <a:srgbClr val="00206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rgbClr val="002060"/>
                          </a:solidFill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100" b="1" dirty="0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 [3]</a:t>
                      </a:r>
                      <a:endParaRPr lang="en-US" sz="1100" b="1" dirty="0">
                        <a:solidFill>
                          <a:srgbClr val="00206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rgbClr val="002060"/>
                          </a:solidFill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MEDIUM</a:t>
                      </a:r>
                      <a:r>
                        <a:rPr lang="en-US" sz="1100" b="1" dirty="0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 [2]</a:t>
                      </a:r>
                      <a:endParaRPr lang="en-US" sz="1100" b="1" dirty="0">
                        <a:solidFill>
                          <a:srgbClr val="00206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</a:rPr>
                        <a:t> </a:t>
                      </a:r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Important </a:t>
                      </a:r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</a:rPr>
                        <a:t>[2]</a:t>
                      </a:r>
                      <a:endParaRPr lang="en-US" sz="11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Important</a:t>
                      </a:r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</a:rPr>
                        <a:t> [2]</a:t>
                      </a:r>
                      <a:endParaRPr lang="en-US" sz="11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 Impact</a:t>
                      </a:r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11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 [0]</a:t>
                      </a:r>
                      <a:endParaRPr lang="en-US" sz="1100" b="1" dirty="0">
                        <a:solidFill>
                          <a:schemeClr val="tx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666251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 </a:t>
                      </a:r>
                      <a:r>
                        <a:rPr lang="en-US" sz="1100" b="1" dirty="0">
                          <a:solidFill>
                            <a:srgbClr val="002060"/>
                          </a:solidFill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 </a:t>
                      </a:r>
                      <a:r>
                        <a:rPr lang="en-US" sz="1100" b="1" dirty="0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[1]</a:t>
                      </a:r>
                      <a:endParaRPr lang="en-US" sz="1100" b="1" dirty="0">
                        <a:solidFill>
                          <a:srgbClr val="00206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rgbClr val="002060"/>
                          </a:solidFill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MEDIUM </a:t>
                      </a:r>
                      <a:r>
                        <a:rPr lang="en-US" sz="1100" b="1" dirty="0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[2] </a:t>
                      </a:r>
                      <a:endParaRPr lang="en-US" sz="1100" b="1" dirty="0">
                        <a:solidFill>
                          <a:srgbClr val="00206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rgbClr val="002060"/>
                          </a:solidFill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MEDIUM</a:t>
                      </a:r>
                      <a:r>
                        <a:rPr lang="en-US" sz="1100" b="1" dirty="0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 [2]</a:t>
                      </a:r>
                      <a:endParaRPr lang="en-US" sz="1100" b="1" dirty="0">
                        <a:solidFill>
                          <a:srgbClr val="00206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 Impact</a:t>
                      </a:r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</a:rPr>
                        <a:t> [0]</a:t>
                      </a:r>
                      <a:endParaRPr lang="en-US" sz="11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Critical</a:t>
                      </a:r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</a:rPr>
                        <a:t> </a:t>
                      </a:r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[3]</a:t>
                      </a:r>
                      <a:endParaRPr lang="en-US" sz="11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 Impact</a:t>
                      </a:r>
                      <a:r>
                        <a:rPr 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11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 </a:t>
                      </a: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Medium [2]</a:t>
                      </a:r>
                      <a:endParaRPr lang="en-US" sz="1100" b="1" dirty="0">
                        <a:solidFill>
                          <a:schemeClr val="tx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0909897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99241" y="2503640"/>
            <a:ext cx="2895600" cy="126464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Financial Impact Measures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 [3]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&gt;$1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milliom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MEDIUM [2]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$0.5-$1 million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LOW [1]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&lt; $0.5 million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4056" y="3814675"/>
            <a:ext cx="8983744" cy="278108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Core Business processes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Inventory Fulfillment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6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process ensure that there are no inventory outages or overstocks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Customer Order Processing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6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process ensures that customers are able to search, chose, place their order, and pay for it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Product Returns Handling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6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process handles product returns and refunds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Operational Impact Measures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Critical [3]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The process is disrupted for more than 4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hrs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Important [2]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The process is disrupted for 1-4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hrs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Supportive [1]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:The process slows down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Impact [0]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impact on the business process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7D4625-5FD1-43AB-A0EC-39E10F91509D}"/>
              </a:ext>
            </a:extLst>
          </p:cNvPr>
          <p:cNvSpPr txBox="1"/>
          <p:nvPr/>
        </p:nvSpPr>
        <p:spPr>
          <a:xfrm>
            <a:off x="5715000" y="2437168"/>
            <a:ext cx="2429759" cy="143084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Legal Impact Measures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 [3]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Jail term and fine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MEDIUM [2]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Only Fine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LOW [1]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Only warning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NONE [0]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No legal action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F481630-3D76-4C08-98FC-4B58A639BE6C}"/>
              </a:ext>
            </a:extLst>
          </p:cNvPr>
          <p:cNvCxnSpPr>
            <a:cxnSpLocks/>
          </p:cNvCxnSpPr>
          <p:nvPr/>
        </p:nvCxnSpPr>
        <p:spPr>
          <a:xfrm flipH="1" flipV="1">
            <a:off x="4761321" y="2509925"/>
            <a:ext cx="3928" cy="13000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0CF6C00-2BF7-4664-BB42-F1998411C014}"/>
              </a:ext>
            </a:extLst>
          </p:cNvPr>
          <p:cNvCxnSpPr>
            <a:stCxn id="5" idx="0"/>
          </p:cNvCxnSpPr>
          <p:nvPr/>
        </p:nvCxnSpPr>
        <p:spPr>
          <a:xfrm flipH="1" flipV="1">
            <a:off x="2438400" y="2286000"/>
            <a:ext cx="8641" cy="2176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7AF0FD96-8064-09EA-5300-37D57509887A}"/>
              </a:ext>
            </a:extLst>
          </p:cNvPr>
          <p:cNvCxnSpPr>
            <a:stCxn id="8" idx="3"/>
          </p:cNvCxnSpPr>
          <p:nvPr/>
        </p:nvCxnSpPr>
        <p:spPr>
          <a:xfrm flipV="1">
            <a:off x="8144759" y="2437168"/>
            <a:ext cx="161041" cy="71542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2764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718"/>
            <a:ext cx="5791200" cy="533082"/>
          </a:xfrm>
        </p:spPr>
        <p:txBody>
          <a:bodyPr>
            <a:normAutofit fontScale="90000"/>
          </a:bodyPr>
          <a:lstStyle/>
          <a:p>
            <a:r>
              <a:rPr lang="en-US" dirty="0"/>
              <a:t>Risk Analysis Tasks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838200"/>
            <a:ext cx="8382000" cy="5638800"/>
          </a:xfrm>
        </p:spPr>
        <p:txBody>
          <a:bodyPr>
            <a:norm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3200" b="0" dirty="0"/>
              <a:t>Identify Critical Systems/Assets (</a:t>
            </a:r>
            <a:r>
              <a:rPr lang="en-US" sz="3200" b="0" dirty="0">
                <a:sym typeface="Wingdings" panose="05000000000000000000" pitchFamily="2" charset="2"/>
              </a:rPr>
              <a:t>)</a:t>
            </a:r>
            <a:endParaRPr lang="en-US" sz="3200" b="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3200" b="0" dirty="0"/>
              <a:t>Classify Critical Assets (</a:t>
            </a:r>
            <a:r>
              <a:rPr lang="en-US" sz="3200" b="0" dirty="0">
                <a:sym typeface="Wingdings" panose="05000000000000000000" pitchFamily="2" charset="2"/>
              </a:rPr>
              <a:t>)</a:t>
            </a:r>
            <a:endParaRPr lang="en-US" sz="3200" b="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3200" b="0" dirty="0"/>
              <a:t>Identify Vulnerabilities and threats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3200" b="0" dirty="0"/>
              <a:t>Quantify the probability of damage and cost of damage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3200" b="0" dirty="0"/>
              <a:t>Implement </a:t>
            </a:r>
            <a:r>
              <a:rPr lang="en-US" sz="3200" b="0" i="1" dirty="0"/>
              <a:t>cost effective</a:t>
            </a:r>
            <a:r>
              <a:rPr lang="en-US" sz="3200" b="0" dirty="0"/>
              <a:t> countermeasures!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ISYS 635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91149-7423-4847-B71D-0A0EF5E3A0BC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1522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t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1450</TotalTime>
  <Words>1510</Words>
  <Application>Microsoft Office PowerPoint</Application>
  <PresentationFormat>On-screen Show (4:3)</PresentationFormat>
  <Paragraphs>245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Arial Black</vt:lpstr>
      <vt:lpstr>Calibri</vt:lpstr>
      <vt:lpstr>Essential</vt:lpstr>
      <vt:lpstr>Cybersecurity Risk Assessment- qualitative approach</vt:lpstr>
      <vt:lpstr>Security Terms</vt:lpstr>
      <vt:lpstr>PowerPoint Presentation</vt:lpstr>
      <vt:lpstr>Risk Analysis Tasks</vt:lpstr>
      <vt:lpstr>Identify Critical Systems/ASSETS</vt:lpstr>
      <vt:lpstr>Risk Analysis Tasks</vt:lpstr>
      <vt:lpstr>Classify Critical Systems/assets</vt:lpstr>
      <vt:lpstr>classify Assets: Approach 2</vt:lpstr>
      <vt:lpstr>Classify Critical Systems: Approach 3</vt:lpstr>
      <vt:lpstr>Determinants of Data Breach Incident Cost (Source: IBM Security’s “Cost of Data Breach report 2019”)</vt:lpstr>
      <vt:lpstr>Classify Assets in terms of legal impact &amp; Financial Impact</vt:lpstr>
      <vt:lpstr>Classify Assets in terms of Operational impact</vt:lpstr>
      <vt:lpstr>Classify Critical Systems</vt:lpstr>
      <vt:lpstr>Asset Identification and Classification- Recap</vt:lpstr>
      <vt:lpstr>PowerPoint Presentation</vt:lpstr>
      <vt:lpstr>Risk Analysis Tasks</vt:lpstr>
    </vt:vector>
  </TitlesOfParts>
  <Company>Paladin Group,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CBK Domain #1 Information Security and Risk Management</dc:title>
  <dc:creator>brianb</dc:creator>
  <cp:lastModifiedBy>Sen, Ravi</cp:lastModifiedBy>
  <cp:revision>387</cp:revision>
  <cp:lastPrinted>2014-02-10T18:10:04Z</cp:lastPrinted>
  <dcterms:created xsi:type="dcterms:W3CDTF">2010-01-13T00:11:34Z</dcterms:created>
  <dcterms:modified xsi:type="dcterms:W3CDTF">2023-02-28T19:50:40Z</dcterms:modified>
</cp:coreProperties>
</file>